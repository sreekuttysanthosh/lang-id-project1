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Language Identification from Short Audio Clips</a:t>
            </a:r>
          </a:p>
          <a:p>
            <a:r>
              <a:t>Using MFCC and Classical 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Predictive Analytics – Project #39 | AY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 Classify spoken language from 3–10 second audio clips</a:t>
            </a:r>
          </a:p>
          <a:p>
            <a:pPr/>
            <a:r>
              <a:t>Target Languages: Malayalam, Tamil, Hindi, English, Kannada</a:t>
            </a:r>
          </a:p>
          <a:p>
            <a:pPr/>
            <a:r>
              <a:t>Approach: Classical ML with handcrafted acoustic features (no deep learning)</a:t>
            </a:r>
          </a:p>
          <a:p>
            <a:pPr/>
            <a:r>
              <a:t>Evaluation: Macro F1-score with 5-fold cross-validation</a:t>
            </a:r>
          </a:p>
          <a:p>
            <a:pPr/>
            <a:r>
              <a:t>Challenge: Discriminating closely related Dravidian languages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Dataset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Malayalam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OpenSLR SLR63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Tamil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OpenSLR SLR65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Hindi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OpenSLR SLR103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LibriSpeech SLR12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Kannada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OpenSLR SLR79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EDA: Class Distribution</a:t>
            </a:r>
          </a:p>
        </p:txBody>
      </p:sp>
      <p:pic>
        <p:nvPicPr>
          <p:cNvPr id="4" name="Picture 3" descr="eda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450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Balanced dataset across 5 languages ensures fair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EDA: Duration Distribution</a:t>
            </a:r>
          </a:p>
        </p:txBody>
      </p:sp>
      <p:pic>
        <p:nvPicPr>
          <p:cNvPr id="4" name="Picture 3" descr="eda_duration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2875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All clips standardized to 5.0 seconds during preprocessing.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Resampling to 16 kHz mono</a:t>
            </a:r>
          </a:p>
          <a:p>
            <a:pPr/>
            <a:r>
              <a:t>2. Voice Activity Detection (VAD) – silence trimming</a:t>
            </a:r>
          </a:p>
          <a:p>
            <a:pPr/>
            <a:r>
              <a:t>3. Duration standardization to 5.0 seconds</a:t>
            </a:r>
          </a:p>
          <a:p>
            <a:pPr/>
            <a:r>
              <a:t>4. Amplitude normalization (RMS = 0.1)</a:t>
            </a:r>
          </a:p>
          <a:p>
            <a:pPr/>
            <a:r>
              <a:t>5. Pre-emphasis filter (α = 0.97)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Preprocessing: Before vs After</a:t>
            </a:r>
          </a:p>
        </p:txBody>
      </p:sp>
      <p:pic>
        <p:nvPicPr>
          <p:cNvPr id="4" name="Picture 3" descr="stage3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2448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Cleaning produces consistent signals for feature extraction.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EDA: Spectrogram Comparison</a:t>
            </a:r>
          </a:p>
        </p:txBody>
      </p:sp>
      <p:pic>
        <p:nvPicPr>
          <p:cNvPr id="4" name="Picture 3" descr="eda_spectrogram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16320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Distinct spectral signatures across language families.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EDA: MFCC Profiles by Language</a:t>
            </a:r>
          </a:p>
        </p:txBody>
      </p:sp>
      <p:pic>
        <p:nvPicPr>
          <p:cNvPr id="4" name="Picture 3" descr="eda_mfcc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4703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Clear separability in lower-order MFCC coefficients.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EDA: Pitch (F0) Distribution</a:t>
            </a:r>
          </a:p>
        </p:txBody>
      </p:sp>
      <p:pic>
        <p:nvPicPr>
          <p:cNvPr id="4" name="Picture 3" descr="eda_pitch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881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Prosodic differences between language families visible in F0.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EDA: PCA Visualization</a:t>
            </a:r>
          </a:p>
        </p:txBody>
      </p:sp>
      <p:pic>
        <p:nvPicPr>
          <p:cNvPr id="4" name="Picture 3" descr="eda_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555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Feature space shows reasonable language separability in 2D.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Feature Engineering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Feature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MFCC + Δ + ΔΔ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Cepstral (mean &amp; 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Prosodic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Pitch, energy,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Spectral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Centroid, rolloff, BW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Phonotactic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ZCR 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Total (selected)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Feature Selection (SelectKBest)</a:t>
            </a:r>
          </a:p>
        </p:txBody>
      </p:sp>
      <p:pic>
        <p:nvPicPr>
          <p:cNvPr id="4" name="Picture 3" descr="eda_featur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2503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Top 70 of 90 features retained using mutual information scoring.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SVM (RBF Kernel) – class_weight='balanced'</a:t>
            </a:r>
          </a:p>
          <a:p>
            <a:pPr/>
            <a:r>
              <a:t>Random Forest – 200 estimators</a:t>
            </a:r>
          </a:p>
          <a:p>
            <a:pPr/>
            <a:r>
              <a:t>Logistic Regression – 'lbfgs' solver, max_iter=2000</a:t>
            </a:r>
          </a:p>
          <a:p>
            <a:pPr/>
            <a:r>
              <a:t>All use stratified 5-fold cross-validation</a:t>
            </a:r>
          </a:p>
          <a:p>
            <a:pPr/>
            <a:r>
              <a:t>70 standardized features after SelectKBest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Model Comparison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CV 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 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Inference (ms)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0.9301 ± 0.0073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0.8979 ± 0.0140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0.8562 ± 0.0197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Confusion Matrices</a:t>
            </a:r>
          </a:p>
        </p:txBody>
      </p:sp>
      <p:pic>
        <p:nvPicPr>
          <p:cNvPr id="4" name="Picture 3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23055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Most confusions between related Dravidian languages (expected).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ROC Curves</a:t>
            </a:r>
          </a:p>
        </p:txBody>
      </p:sp>
      <p:pic>
        <p:nvPicPr>
          <p:cNvPr id="4" name="Picture 3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284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All models achieve AUC &gt; 0.97; SVM leads with 0.9943.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Learning Curves</a:t>
            </a:r>
          </a:p>
        </p:txBody>
      </p:sp>
      <p:pic>
        <p:nvPicPr>
          <p:cNvPr id="4" name="Picture 3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0778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Performance improves with data; no severe overfitting observed.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SHAP Analysis</a:t>
            </a:r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143308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SHAP values show MFCC dynamics dominate language discrimination.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Permutation Feature Importance</a:t>
            </a:r>
          </a:p>
        </p:txBody>
      </p:sp>
      <p:pic>
        <p:nvPicPr>
          <p:cNvPr id="4" name="Picture 3" descr="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555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Delta MFCC coefficients are most critical for classification.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Deployment: Streamlit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WAV/MP3/FLAC for real-time identification</a:t>
            </a:r>
          </a:p>
          <a:p>
            <a:pPr/>
            <a:r>
              <a:t>Waveform &amp; Mel spectrogram visualization</a:t>
            </a:r>
          </a:p>
          <a:p>
            <a:pPr/>
            <a:r>
              <a:t>Class probability bar chart</a:t>
            </a:r>
          </a:p>
          <a:p>
            <a:pPr/>
            <a:r>
              <a:t>Acoustic radar analysis</a:t>
            </a:r>
          </a:p>
          <a:p>
            <a:pPr/>
            <a:r>
              <a:t>Multi-model comparison view</a:t>
            </a:r>
          </a:p>
          <a:p>
            <a:pPr/>
            <a:r>
              <a:t>Run: streamlit run app.py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SVM (RBF) achieves best performance: 92.10% accuracy, 0.92 F1</a:t>
            </a:r>
          </a:p>
          <a:p>
            <a:pPr/>
            <a:r>
              <a:t>MFCC dynamics are the most discriminative features</a:t>
            </a:r>
          </a:p>
          <a:p>
            <a:pPr/>
            <a:r>
              <a:t>Dravidian languages show expected higher confusion rates</a:t>
            </a:r>
          </a:p>
          <a:p>
            <a:pPr/>
            <a:r>
              <a:t>Multi-feature approach outperforms single feature families</a:t>
            </a:r>
          </a:p>
          <a:p>
            <a:pPr/>
            <a:r>
              <a:t>All models exceed random baseline (20%) and target (78% F1)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comparison (x-vectors, wav2vec 2.0)</a:t>
            </a:r>
          </a:p>
          <a:p>
            <a:pPr/>
            <a:r>
              <a:t>More Indian languages and dialects</a:t>
            </a:r>
          </a:p>
          <a:p>
            <a:pPr/>
            <a:r>
              <a:t>Code-switching scenarios</a:t>
            </a:r>
          </a:p>
          <a:p>
            <a:pPr/>
            <a:r>
              <a:t>Noisy and real-world audio conditions</a:t>
            </a:r>
          </a:p>
          <a:p>
            <a:pPr/>
            <a:r>
              <a:t>Data augmentation for improved robustness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